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9B4FA"/>
                </a:solidFill>
              </a:rPr>
              <a:t>WaferLLM Inference on WSE-3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AC2DE"/>
                </a:solidFill>
              </a:rPr>
              <a:t>Prefill · Decode · End-to-End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Re-implementation and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Test Case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AC2DE"/>
                </a:solidFill>
              </a:rPr>
              <a:t>Each JSON file defines one (Model, Grid)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029200" cy="5303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E3A1"/>
                </a:solidFill>
              </a:rPr>
              <a:t>{
  "P": 660,
  "bsz": 1,
  "dim": 8580,
  "seq_len": 4620,
  "ffn_dim": 29700,
  "n_heads": 1,
  "n_kv_heads": 1,
  "head_dim": 8580,
  "layer_num": 80,
  "group_num": 22
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234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P = 660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344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DE"/>
                </a:solidFill>
              </a:rPr>
              <a:t>660×660 PE grid on WSE-3 (435,600 cores)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7556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bsz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556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DE"/>
                </a:solidFill>
              </a:rPr>
              <a:t>One inference request at a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2768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E2AF"/>
                </a:solidFill>
              </a:rPr>
              <a:t>dim = 8580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27685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DE"/>
                </a:solidFill>
              </a:rPr>
              <a:t>Hidden dim: ceil(8192/660)×660  [Qwen2-72B actual: 8192]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79806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E2AF"/>
                </a:solidFill>
              </a:rPr>
              <a:t>seq_len = 4620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79806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DE"/>
                </a:solidFill>
              </a:rPr>
              <a:t>Input tokens ~4096: ceil(4096/660)×660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31927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E2AF"/>
                </a:solidFill>
              </a:rPr>
              <a:t>ffn_dim = 29700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31927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DE"/>
                </a:solidFill>
              </a:rPr>
              <a:t>FFN intermediate: ceil(29568/660)×660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84047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8BA8"/>
                </a:solidFill>
              </a:rPr>
              <a:t>n_heads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840479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DE"/>
                </a:solidFill>
              </a:rPr>
              <a:t>Merged to 1 head — preserves matrix sizes, simplifies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361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8BA8"/>
                </a:solidFill>
              </a:rPr>
              <a:t>head_dim = 8580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36168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DE"/>
                </a:solidFill>
              </a:rPr>
              <a:t>Equals dim since n_heads=1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882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layer_num = 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88289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DE"/>
                </a:solidFill>
              </a:rPr>
              <a:t>Transformer layers — scales single-layer time to full-model TPR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404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C2DE"/>
                </a:solidFill>
              </a:rPr>
              <a:t>group_num =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40410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DE"/>
                </a:solidFill>
              </a:rPr>
              <a:t>Allreduce groups for decode attention reduction (660/22=30 PEs/group)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9E2AF"/>
                </a:solidFill>
              </a:rPr>
              <a:t>All dimensions rounded to nearest multiple of P → equal work per PE, no remainder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Prefill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AC2DE"/>
                </a:solidFill>
              </a:rPr>
              <a:t>Processing the input prompt — all tokens at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486400" cy="13716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Transformer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RMSNorm  →  Q/K/V Projection  →  RoPE
→  Attention  →  Output Proj  →  RMSNorm
→  FFN (up / gate / down)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486400" cy="338328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Dimension Selection  (LLaMA3-8B, P=480)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2AF"/>
                </a:solidFill>
              </a:rPr>
              <a:t>seq_len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004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ceil(4096 / 480) × 480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200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= 4,320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930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AC2DE"/>
                </a:solidFill>
              </a:rPr>
              <a:t>input tokens rounded to multiple of 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587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2AF"/>
                </a:solidFill>
              </a:rPr>
              <a:t>dim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587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ceil(4096 / 480) × 480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858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= 4,320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513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AC2DE"/>
                </a:solidFill>
              </a:rPr>
              <a:t>hidden dim rounded to multiple of 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171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2AF"/>
                </a:solidFill>
              </a:rPr>
              <a:t>ffn_dim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ceil(14336 / 480) × 480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5171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= 14,400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97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AC2DE"/>
                </a:solidFill>
              </a:rPr>
              <a:t>FFN dim rounded to multiple of 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88720"/>
            <a:ext cx="5852160" cy="530352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Cycle Count → TPR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600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Measured via hardware cycle counter
Max over all PEs  (slowest PE = wall-clock time)
Averaged over 50 runs, 5 warmup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377440"/>
            <a:ext cx="5486400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4231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Time/layer  =  cycle_count  /  1.1×10⁹
TPR  =  seq_len  /  (time_s  ×  layer_num)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2AF"/>
                </a:solidFill>
              </a:rPr>
              <a:t>Example  —  LLaMA3-8B, P=480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9136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C2DE"/>
                </a:solidFill>
              </a:rPr>
              <a:t>Max cycle count: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9136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6,495,367.7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3525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C2DE"/>
                </a:solidFill>
              </a:rPr>
              <a:t>Time per layer: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3525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6,495,367.7 / 1.1×10⁹  =  5.905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7914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C2DE"/>
                </a:solidFill>
              </a:rPr>
              <a:t>TPR: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79145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4,320 / (5.905×10⁻³ × 32)  =  22,862 tok/s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3492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AC2DE"/>
                </a:solidFill>
              </a:rPr>
              <a:t>Why TPR is seq_len-independent: FFN time ∝ seq_len,
so TPR = seq_len/(C·seq_len) = 1/C  (constant)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Decode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AC2DE"/>
                </a:solidFill>
              </a:rPr>
              <a:t>Generating new tokens one at a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486400" cy="256032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How Decode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Each step generates exactly 1 new token.
The new token attends over ALL previous tokens
stored in the KV cache.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512064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Q  =  new token projected  →  shape (1 × dim)
K_cache  =  all past Keys    →  shape (seq_len × dim)
V_cache  =  all past Values  →  shape (seq_len × dim)
scores = Q × Kᵀ   →   output = scores × V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886200"/>
            <a:ext cx="5486400" cy="260604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Why seq_len = KV cache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Prefill writes one K,V pair per input token into the cache.
When decode begins, the cache holds seq_len entries.
Decode reads ALL of them every step → performance
scales with context length.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9E2AF"/>
                </a:solidFill>
              </a:rPr>
              <a:t>seq_len = context window ≈ 4096,
rounded up: ceil(4096/P)×P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88720"/>
            <a:ext cx="5852160" cy="530352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Cycle Count → TPR  (Decode)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Input is always 1 token → TPR formula changes: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11680"/>
            <a:ext cx="5486400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0574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Time/layer  =  cycle_count  /  1.1×10⁹
TPR  =  1000  /  (time_ms  ×  layer_num)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46120"/>
            <a:ext cx="5486400" cy="5029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AC2DE"/>
                </a:solidFill>
              </a:rPr>
              <a:t>vs Prefill:  TPR = seq_len / (time_ms×10⁻³ × layer_num)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886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2AF"/>
                </a:solidFill>
              </a:rPr>
              <a:t>Example  —  LLaMA3-8B, P=420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C2DE"/>
                </a:solidFill>
              </a:rPr>
              <a:t>Max cycle count: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2519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16,373.1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690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C2DE"/>
                </a:solidFill>
              </a:rPr>
              <a:t>Time per layer: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908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16,373.1 / 1.1×10⁹  =  0.01488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1297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C2DE"/>
                </a:solidFill>
              </a:rPr>
              <a:t>TPR: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1297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1000 / (0.01488 × 32)  =  2,099.5 tok/s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486400"/>
            <a:ext cx="5486400" cy="822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5046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B4FA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5046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B4FA"/>
                </a:solidFill>
              </a:rPr>
              <a:t>Prefill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55046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B4FA"/>
                </a:solidFill>
              </a:rPr>
              <a:t>Decode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70585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AC2DE"/>
                </a:solidFill>
              </a:rPr>
              <a:t>Tokens/pass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70585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seq_len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570585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907023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AC2DE"/>
                </a:solidFill>
              </a:rPr>
              <a:t>TPR formula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907023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seq_len/(t×L)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5907023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1000/(t_ms×L)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610819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AC2DE"/>
                </a:solidFill>
              </a:rPr>
              <a:t>seq_len role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610819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input length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610819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KV cache size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End-to-End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AC2DE"/>
                </a:solidFill>
              </a:rPr>
              <a:t>Combining prefill and decode into a single user-facing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40312" cy="13716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6E3A1"/>
                </a:solidFill>
              </a:rPr>
              <a:t>E2E  =  new_tokens  /  ( input_tokens / prefill_TPR  +  new_tokens / decode_TPR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AC2DE"/>
                </a:solidFill>
              </a:rPr>
              <a:t>denominator = total wall-clock time of the full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486400" cy="13716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Phase 1 — Prefill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time_prefill  =  input_tokens / prefill_TPR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930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9E2AF"/>
                </a:solidFill>
              </a:rPr>
              <a:t>e.g.  4096 / 27,923  =  0.147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743200"/>
            <a:ext cx="5879592" cy="13716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788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Phase 2 — 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time_decode  =  new_tokens / decode_TPR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4930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9E2AF"/>
                </a:solidFill>
              </a:rPr>
              <a:t>e.g.  128 / 2,256  =  0.057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97680"/>
            <a:ext cx="11640312" cy="13716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Example  —  LLaMA3-8B, 4096in / 128out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Prefill TPR = 27,923 tok/s  (660×660)     Decode TPR = 2,256 tok/s  (360×360)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017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E2E  =  128 / (4096/27,923 + 128/2,256)  =  128 / (0.1467 + 0.0567)  =  128 / 0.2034  =  629.2 tok/s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833872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AC2DE"/>
                </a:solidFill>
              </a:rPr>
              <a:t>E2E is always lower than both prefill and decode TPR individually — you pay the cost of both phases.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E2E Results vs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AC2DE"/>
                </a:solidFill>
              </a:rPr>
              <a:t>LLaMA3-8B (660×660 prefill + 360×360 decode)  |  LLaMA2-13B (750×750 + 375×375)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40312" cy="38404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070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2070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207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Ours (tok/s)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207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Paper (tok/s)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207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Diff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11640312" cy="384048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6459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LLaMA3-8B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645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2048in / 128out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645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747.9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45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764.4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645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−2.2%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11680"/>
            <a:ext cx="11640312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0299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029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4096in / 128out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029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629.2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29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604.4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029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+4.1%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95728"/>
            <a:ext cx="11640312" cy="384048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140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24140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2048in / 2048out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4140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2,036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4140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2,370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4140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2AF"/>
                </a:solidFill>
              </a:rPr>
              <a:t>−14.1%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779776"/>
            <a:ext cx="11640312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7980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27980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4096in / 4096out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7980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2,087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7980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2,459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7980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2AF"/>
                </a:solidFill>
              </a:rPr>
              <a:t>−15.1%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163824"/>
            <a:ext cx="11640312" cy="384048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1821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LLaMA2-13B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3182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2048in / 128out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182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499.7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182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473.9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182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+5.4%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547872"/>
            <a:ext cx="11640312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35661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3566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4096in / 128out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3566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470.0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3566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414.0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566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+13.5%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931920"/>
            <a:ext cx="11640312" cy="384048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95020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39502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2048in / 2048out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395020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1,535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395020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1,690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395020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2AF"/>
                </a:solidFill>
              </a:rPr>
              <a:t>−9.2%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315968"/>
            <a:ext cx="11640312" cy="384048"/>
          </a:xfrm>
          <a:prstGeom prst="rect">
            <a:avLst/>
          </a:prstGeom>
          <a:solidFill>
            <a:srgbClr val="2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433425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11680" y="433425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4096in / 4096out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433425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1,622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433425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1,826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433425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2AF"/>
                </a:solidFill>
              </a:rPr>
              <a:t>−11.2%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983480"/>
            <a:ext cx="11640312" cy="82296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029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Short-output (128out): matches or exceeds paper (±14%) — prefill-dominated, WSE-3 prefill is fast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349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Long-output (2048/4096out): 9–15% below paper — decode-dominated; paper benchmarked on WSE-2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